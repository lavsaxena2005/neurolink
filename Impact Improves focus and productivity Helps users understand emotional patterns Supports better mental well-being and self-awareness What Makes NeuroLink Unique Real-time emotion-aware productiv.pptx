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</p:sldIdLst>
  <p:sldSz cx="18288000" cy="10287000"/>
  <p:notesSz cx="6858000" cy="9144000"/>
  <p:embeddedFontLst>
    <p:embeddedFont>
      <p:font typeface="TT Phobos Bold" charset="1" panose="02000803060000020004"/>
      <p:regular r:id="rId9"/>
    </p:embeddedFont>
    <p:embeddedFont>
      <p:font typeface="Times New Roman Bold" charset="1" panose="02020803070505020304"/>
      <p:regular r:id="rId10"/>
    </p:embeddedFont>
    <p:embeddedFont>
      <p:font typeface="Times New Roman" charset="1" panose="02020603050405020304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jpe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.jpeg" Type="http://schemas.openxmlformats.org/officeDocument/2006/relationships/image"/><Relationship Id="rId7" Target="../media/image1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8C52FF">
                <a:alpha val="100000"/>
              </a:srgbClr>
            </a:gs>
            <a:gs pos="100000">
              <a:srgbClr val="5CE1E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82332" y="-252991"/>
            <a:ext cx="13373100" cy="2075786"/>
            <a:chOff x="0" y="0"/>
            <a:chExt cx="3522133" cy="5467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22133" cy="546709"/>
            </a:xfrm>
            <a:custGeom>
              <a:avLst/>
              <a:gdLst/>
              <a:ahLst/>
              <a:cxnLst/>
              <a:rect r="r" b="b" t="t" l="l"/>
              <a:pathLst>
                <a:path h="546709" w="3522133">
                  <a:moveTo>
                    <a:pt x="29525" y="0"/>
                  </a:moveTo>
                  <a:lnTo>
                    <a:pt x="3492608" y="0"/>
                  </a:lnTo>
                  <a:cubicBezTo>
                    <a:pt x="3500439" y="0"/>
                    <a:pt x="3507949" y="3111"/>
                    <a:pt x="3513486" y="8648"/>
                  </a:cubicBezTo>
                  <a:cubicBezTo>
                    <a:pt x="3519022" y="14185"/>
                    <a:pt x="3522133" y="21694"/>
                    <a:pt x="3522133" y="29525"/>
                  </a:cubicBezTo>
                  <a:lnTo>
                    <a:pt x="3522133" y="517184"/>
                  </a:lnTo>
                  <a:cubicBezTo>
                    <a:pt x="3522133" y="533490"/>
                    <a:pt x="3508915" y="546709"/>
                    <a:pt x="3492608" y="546709"/>
                  </a:cubicBezTo>
                  <a:lnTo>
                    <a:pt x="29525" y="546709"/>
                  </a:lnTo>
                  <a:cubicBezTo>
                    <a:pt x="13219" y="546709"/>
                    <a:pt x="0" y="533490"/>
                    <a:pt x="0" y="517184"/>
                  </a:cubicBezTo>
                  <a:lnTo>
                    <a:pt x="0" y="29525"/>
                  </a:lnTo>
                  <a:cubicBezTo>
                    <a:pt x="0" y="13219"/>
                    <a:pt x="13219" y="0"/>
                    <a:pt x="2952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C52FF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522133" cy="5848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538661" y="216576"/>
            <a:ext cx="13030200" cy="1606219"/>
            <a:chOff x="0" y="0"/>
            <a:chExt cx="12354560" cy="1522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354558" cy="1522930"/>
            </a:xfrm>
            <a:custGeom>
              <a:avLst/>
              <a:gdLst/>
              <a:ahLst/>
              <a:cxnLst/>
              <a:rect r="r" b="b" t="t" l="l"/>
              <a:pathLst>
                <a:path h="1522930" w="12354558">
                  <a:moveTo>
                    <a:pt x="0" y="0"/>
                  </a:moveTo>
                  <a:lnTo>
                    <a:pt x="12354558" y="0"/>
                  </a:lnTo>
                  <a:lnTo>
                    <a:pt x="12354558" y="1522930"/>
                  </a:lnTo>
                  <a:lnTo>
                    <a:pt x="0" y="15229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8069" r="0" b="-10806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47625"/>
              <a:ext cx="12354560" cy="14753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508"/>
                </a:lnSpc>
              </a:pPr>
              <a:r>
                <a:rPr lang="en-US" b="true" sz="5100" spc="40">
                  <a:solidFill>
                    <a:srgbClr val="FFFFFF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NeuroLink – AI Mental Fitness Companion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5947" y="5561571"/>
            <a:ext cx="4725429" cy="4725429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23042" y="124802"/>
                  </a:lnTo>
                  <a:lnTo>
                    <a:pt x="693768" y="119032"/>
                  </a:lnTo>
                  <a:lnTo>
                    <a:pt x="687998" y="289758"/>
                  </a:lnTo>
                  <a:lnTo>
                    <a:pt x="812800" y="406400"/>
                  </a:lnTo>
                  <a:lnTo>
                    <a:pt x="687998" y="523042"/>
                  </a:lnTo>
                  <a:lnTo>
                    <a:pt x="693768" y="693768"/>
                  </a:lnTo>
                  <a:lnTo>
                    <a:pt x="523042" y="687998"/>
                  </a:lnTo>
                  <a:lnTo>
                    <a:pt x="406400" y="812800"/>
                  </a:lnTo>
                  <a:lnTo>
                    <a:pt x="289758" y="687998"/>
                  </a:lnTo>
                  <a:lnTo>
                    <a:pt x="119032" y="693768"/>
                  </a:lnTo>
                  <a:lnTo>
                    <a:pt x="124802" y="523042"/>
                  </a:lnTo>
                  <a:lnTo>
                    <a:pt x="0" y="406400"/>
                  </a:lnTo>
                  <a:lnTo>
                    <a:pt x="124802" y="289758"/>
                  </a:lnTo>
                  <a:lnTo>
                    <a:pt x="119032" y="119032"/>
                  </a:lnTo>
                  <a:lnTo>
                    <a:pt x="289758" y="124802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>
                <a:alpha val="48627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27000" y="88900"/>
              <a:ext cx="558800" cy="596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729847" y="2222441"/>
            <a:ext cx="11556563" cy="5701845"/>
            <a:chOff x="0" y="0"/>
            <a:chExt cx="3043704" cy="15017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043704" cy="1501720"/>
            </a:xfrm>
            <a:custGeom>
              <a:avLst/>
              <a:gdLst/>
              <a:ahLst/>
              <a:cxnLst/>
              <a:rect r="r" b="b" t="t" l="l"/>
              <a:pathLst>
                <a:path h="1501720" w="3043704">
                  <a:moveTo>
                    <a:pt x="34166" y="0"/>
                  </a:moveTo>
                  <a:lnTo>
                    <a:pt x="3009538" y="0"/>
                  </a:lnTo>
                  <a:cubicBezTo>
                    <a:pt x="3018599" y="0"/>
                    <a:pt x="3027290" y="3600"/>
                    <a:pt x="3033697" y="10007"/>
                  </a:cubicBezTo>
                  <a:cubicBezTo>
                    <a:pt x="3040104" y="16414"/>
                    <a:pt x="3043704" y="25104"/>
                    <a:pt x="3043704" y="34166"/>
                  </a:cubicBezTo>
                  <a:lnTo>
                    <a:pt x="3043704" y="1467555"/>
                  </a:lnTo>
                  <a:cubicBezTo>
                    <a:pt x="3043704" y="1486424"/>
                    <a:pt x="3028407" y="1501720"/>
                    <a:pt x="3009538" y="1501720"/>
                  </a:cubicBezTo>
                  <a:lnTo>
                    <a:pt x="34166" y="1501720"/>
                  </a:lnTo>
                  <a:cubicBezTo>
                    <a:pt x="25104" y="1501720"/>
                    <a:pt x="16414" y="1498121"/>
                    <a:pt x="10007" y="1491714"/>
                  </a:cubicBezTo>
                  <a:cubicBezTo>
                    <a:pt x="3600" y="1485306"/>
                    <a:pt x="0" y="1476616"/>
                    <a:pt x="0" y="1467555"/>
                  </a:cubicBezTo>
                  <a:lnTo>
                    <a:pt x="0" y="34166"/>
                  </a:lnTo>
                  <a:cubicBezTo>
                    <a:pt x="0" y="15297"/>
                    <a:pt x="15297" y="0"/>
                    <a:pt x="3416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B2D9F">
                    <a:alpha val="100000"/>
                  </a:srgbClr>
                </a:gs>
                <a:gs pos="100000">
                  <a:srgbClr val="FDD82E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3043704" cy="1539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2054106" y="5446313"/>
            <a:ext cx="6233894" cy="4955946"/>
          </a:xfrm>
          <a:custGeom>
            <a:avLst/>
            <a:gdLst/>
            <a:ahLst/>
            <a:cxnLst/>
            <a:rect r="r" b="b" t="t" l="l"/>
            <a:pathLst>
              <a:path h="4955946" w="6233894">
                <a:moveTo>
                  <a:pt x="0" y="0"/>
                </a:moveTo>
                <a:lnTo>
                  <a:pt x="6233894" y="0"/>
                </a:lnTo>
                <a:lnTo>
                  <a:pt x="6233894" y="4955945"/>
                </a:lnTo>
                <a:lnTo>
                  <a:pt x="0" y="49559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082332" y="2550781"/>
            <a:ext cx="12357928" cy="6964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6"/>
              </a:lnSpc>
            </a:pPr>
            <a:r>
              <a:rPr lang="en-US" sz="2774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High Stress. Low Focus. Generic Solutions.</a:t>
            </a:r>
          </a:p>
          <a:p>
            <a:pPr algn="l">
              <a:lnSpc>
                <a:spcPts val="3196"/>
              </a:lnSpc>
            </a:pPr>
            <a:r>
              <a:rPr lang="en-US" sz="2774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Challenge</a:t>
            </a:r>
          </a:p>
          <a:p>
            <a:pPr algn="l" marL="357124" indent="-178562" lvl="1">
              <a:lnSpc>
                <a:spcPts val="3196"/>
              </a:lnSpc>
              <a:buFont typeface="Arial"/>
              <a:buChar char="•"/>
            </a:pPr>
            <a:r>
              <a:rPr lang="en-US" sz="277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Students and professionals are facing </a:t>
            </a:r>
            <a:r>
              <a:rPr lang="en-US" b="true" sz="2774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rising stress and anxiety</a:t>
            </a:r>
          </a:p>
          <a:p>
            <a:pPr algn="l" marL="357124" indent="-178562" lvl="1">
              <a:lnSpc>
                <a:spcPts val="3196"/>
              </a:lnSpc>
              <a:buFont typeface="Arial"/>
              <a:buChar char="•"/>
            </a:pPr>
            <a:r>
              <a:rPr lang="en-US" sz="277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Emotional imbalance reduces </a:t>
            </a:r>
            <a:r>
              <a:rPr lang="en-US" b="true" sz="2774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focus and productivity</a:t>
            </a:r>
          </a:p>
          <a:p>
            <a:pPr algn="l" marL="357124" indent="-178562" lvl="1">
              <a:lnSpc>
                <a:spcPts val="3196"/>
              </a:lnSpc>
              <a:buFont typeface="Arial"/>
              <a:buChar char="•"/>
            </a:pPr>
            <a:r>
              <a:rPr lang="en-US" sz="277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Current wellness apps provide </a:t>
            </a:r>
            <a:r>
              <a:rPr lang="en-US" b="true" sz="2774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generic advice, not personalization</a:t>
            </a:r>
          </a:p>
          <a:p>
            <a:pPr algn="l" marL="357124" indent="-178562" lvl="1">
              <a:lnSpc>
                <a:spcPts val="3196"/>
              </a:lnSpc>
            </a:pPr>
          </a:p>
          <a:p>
            <a:pPr algn="l" marL="357124" indent="-178562" lvl="1">
              <a:lnSpc>
                <a:spcPts val="3196"/>
              </a:lnSpc>
            </a:pPr>
            <a:r>
              <a:rPr lang="en-US" b="true" sz="2774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Our Solution – NeuroLink</a:t>
            </a:r>
          </a:p>
          <a:p>
            <a:pPr algn="l" marL="357124" indent="-178562" lvl="1">
              <a:lnSpc>
                <a:spcPts val="3196"/>
              </a:lnSpc>
              <a:buFont typeface="Arial"/>
              <a:buChar char="•"/>
            </a:pPr>
            <a:r>
              <a:rPr lang="en-US" sz="277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that understands emotions in real time</a:t>
            </a:r>
          </a:p>
          <a:p>
            <a:pPr algn="l" marL="357124" indent="-178562" lvl="1">
              <a:lnSpc>
                <a:spcPts val="3196"/>
              </a:lnSpc>
              <a:buFont typeface="Arial"/>
              <a:buChar char="•"/>
            </a:pPr>
            <a:r>
              <a:rPr lang="en-US" sz="277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Smart, personalized productivity and wellness suggestions</a:t>
            </a:r>
          </a:p>
          <a:p>
            <a:pPr algn="l" marL="357124" indent="-178562" lvl="1">
              <a:lnSpc>
                <a:spcPts val="3196"/>
              </a:lnSpc>
              <a:buFont typeface="Arial"/>
              <a:buChar char="•"/>
            </a:pPr>
            <a:r>
              <a:rPr lang="en-US" sz="277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Continuous insights to help users stay focused and balanced</a:t>
            </a:r>
          </a:p>
          <a:p>
            <a:pPr algn="l" marL="357124" indent="-178562" lvl="1">
              <a:lnSpc>
                <a:spcPts val="3196"/>
              </a:lnSpc>
            </a:pPr>
          </a:p>
          <a:p>
            <a:pPr algn="l" marL="357124" indent="-178562" lvl="1">
              <a:lnSpc>
                <a:spcPts val="3196"/>
              </a:lnSpc>
            </a:pPr>
            <a:r>
              <a:rPr lang="en-US" b="true" sz="2774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                         Empower your mind — one mood at a time.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7B2D9F">
                <a:alpha val="100000"/>
              </a:srgbClr>
            </a:gs>
            <a:gs pos="100000">
              <a:srgbClr val="FDD82E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86550" y="1028700"/>
            <a:ext cx="13114900" cy="8229600"/>
          </a:xfrm>
          <a:custGeom>
            <a:avLst/>
            <a:gdLst/>
            <a:ahLst/>
            <a:cxnLst/>
            <a:rect r="r" b="b" t="t" l="l"/>
            <a:pathLst>
              <a:path h="8229600" w="13114900">
                <a:moveTo>
                  <a:pt x="0" y="0"/>
                </a:moveTo>
                <a:lnTo>
                  <a:pt x="13114900" y="0"/>
                </a:lnTo>
                <a:lnTo>
                  <a:pt x="131149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286000" y="126337"/>
            <a:ext cx="13463339" cy="1606219"/>
            <a:chOff x="0" y="0"/>
            <a:chExt cx="12765240" cy="15229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765238" cy="1522931"/>
            </a:xfrm>
            <a:custGeom>
              <a:avLst/>
              <a:gdLst/>
              <a:ahLst/>
              <a:cxnLst/>
              <a:rect r="r" b="b" t="t" l="l"/>
              <a:pathLst>
                <a:path h="1522931" w="12765238">
                  <a:moveTo>
                    <a:pt x="0" y="0"/>
                  </a:moveTo>
                  <a:lnTo>
                    <a:pt x="12765238" y="0"/>
                  </a:lnTo>
                  <a:lnTo>
                    <a:pt x="12765238" y="1522931"/>
                  </a:lnTo>
                  <a:lnTo>
                    <a:pt x="0" y="15229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323" r="0" b="-113324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47625"/>
              <a:ext cx="12765240" cy="14753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508"/>
                </a:lnSpc>
              </a:pPr>
              <a:r>
                <a:rPr lang="en-US" b="true" sz="5100" spc="40">
                  <a:solidFill>
                    <a:srgbClr val="FFFFFF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From Mood to Meaning: How NeuroLink Works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057400" y="1723031"/>
            <a:ext cx="12467950" cy="5835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5"/>
              </a:lnSpc>
            </a:pPr>
            <a:r>
              <a:rPr lang="en-US" sz="273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AI Workflow</a:t>
            </a:r>
          </a:p>
          <a:p>
            <a:pPr algn="l" marL="351410" indent="-175705" lvl="1">
              <a:lnSpc>
                <a:spcPts val="3145"/>
              </a:lnSpc>
              <a:buFont typeface="Arial"/>
              <a:buChar char="•"/>
            </a:pPr>
            <a:r>
              <a:rPr lang="en-US" sz="273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Input → Mood Detection → Smart Suggestions → Dashboard Insights → AI Chat Support → Psychologist Support (if needed)</a:t>
            </a:r>
          </a:p>
          <a:p>
            <a:pPr algn="l" marL="351410" indent="-175705" lvl="1">
              <a:lnSpc>
                <a:spcPts val="3145"/>
              </a:lnSpc>
            </a:pPr>
            <a:r>
              <a:rPr lang="en-US" b="true" sz="273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Core Technologies</a:t>
            </a:r>
          </a:p>
          <a:p>
            <a:pPr algn="l" marL="351410" indent="-175705" lvl="1">
              <a:lnSpc>
                <a:spcPts val="3145"/>
              </a:lnSpc>
              <a:buFont typeface="Arial"/>
              <a:buChar char="•"/>
            </a:pPr>
            <a:r>
              <a:rPr lang="en-US" sz="273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Natural Language Processing (NLP)</a:t>
            </a:r>
          </a:p>
          <a:p>
            <a:pPr algn="l" marL="351410" indent="-175705" lvl="1">
              <a:lnSpc>
                <a:spcPts val="3145"/>
              </a:lnSpc>
              <a:buFont typeface="Arial"/>
              <a:buChar char="•"/>
            </a:pPr>
            <a:r>
              <a:rPr lang="en-US" sz="273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Sentiment Analysis &amp; Machine Learning</a:t>
            </a:r>
          </a:p>
          <a:p>
            <a:pPr algn="l" marL="351410" indent="-175705" lvl="1">
              <a:lnSpc>
                <a:spcPts val="3145"/>
              </a:lnSpc>
              <a:buFont typeface="Arial"/>
              <a:buChar char="•"/>
            </a:pPr>
            <a:r>
              <a:rPr lang="en-US" sz="273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Streamlit Web Platform</a:t>
            </a:r>
          </a:p>
          <a:p>
            <a:pPr algn="l" marL="351410" indent="-175705" lvl="1">
              <a:lnSpc>
                <a:spcPts val="3145"/>
              </a:lnSpc>
              <a:buFont typeface="Arial"/>
              <a:buChar char="•"/>
            </a:pPr>
            <a:r>
              <a:rPr lang="en-US" sz="273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Conversational AI</a:t>
            </a:r>
          </a:p>
          <a:p>
            <a:pPr algn="l" marL="351410" indent="-175705" lvl="1">
              <a:lnSpc>
                <a:spcPts val="3145"/>
              </a:lnSpc>
            </a:pPr>
            <a:r>
              <a:rPr lang="en-US" b="true" sz="273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Support System</a:t>
            </a:r>
          </a:p>
          <a:p>
            <a:pPr algn="l" marL="351410" indent="-175705" lvl="1">
              <a:lnSpc>
                <a:spcPts val="3145"/>
              </a:lnSpc>
              <a:buFont typeface="Arial"/>
              <a:buChar char="•"/>
            </a:pPr>
            <a:r>
              <a:rPr lang="en-US" b="true" sz="273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AI Support:</a:t>
            </a:r>
            <a:r>
              <a:rPr lang="en-US" sz="273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Instant mood analysis, focus tips, and motivational guidance</a:t>
            </a:r>
          </a:p>
          <a:p>
            <a:pPr algn="l" marL="351410" indent="-175705" lvl="1">
              <a:lnSpc>
                <a:spcPts val="3145"/>
              </a:lnSpc>
              <a:buFont typeface="Arial"/>
              <a:buChar char="•"/>
            </a:pPr>
            <a:r>
              <a:rPr lang="en-US" b="true" sz="273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Psychologist Support:</a:t>
            </a:r>
            <a:r>
              <a:rPr lang="en-US" sz="273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Option to connect users with professionals in high-stress cases</a:t>
            </a:r>
          </a:p>
          <a:p>
            <a:pPr algn="l" marL="351410" indent="-175705" lvl="1">
              <a:lnSpc>
                <a:spcPts val="3145"/>
              </a:lnSpc>
            </a:pPr>
          </a:p>
          <a:p>
            <a:pPr algn="l" marL="351410" indent="-175705" lvl="1">
              <a:lnSpc>
                <a:spcPts val="3145"/>
              </a:lnSpc>
            </a:pPr>
            <a:r>
              <a:rPr lang="en-US" b="true" sz="273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Key Highlight</a:t>
            </a:r>
          </a:p>
          <a:p>
            <a:pPr algn="l" marL="351410" indent="-175705" lvl="1">
              <a:lnSpc>
                <a:spcPts val="3145"/>
              </a:lnSpc>
              <a:buFont typeface="Arial"/>
              <a:buChar char="•"/>
            </a:pPr>
            <a:r>
              <a:rPr lang="en-US" b="true" sz="273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Real-time mood analysis and personalized recommendations to improve focus, productivity, and mental well-being.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5400000">
            <a:off x="0" y="6364819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810866" y="3086100"/>
            <a:ext cx="4666268" cy="4114800"/>
          </a:xfrm>
          <a:custGeom>
            <a:avLst/>
            <a:gdLst/>
            <a:ahLst/>
            <a:cxnLst/>
            <a:rect r="r" b="b" t="t" l="l"/>
            <a:pathLst>
              <a:path h="4114800" w="4666268">
                <a:moveTo>
                  <a:pt x="0" y="0"/>
                </a:moveTo>
                <a:lnTo>
                  <a:pt x="4666268" y="0"/>
                </a:lnTo>
                <a:lnTo>
                  <a:pt x="46662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9918085" cy="9701691"/>
          </a:xfrm>
          <a:custGeom>
            <a:avLst/>
            <a:gdLst/>
            <a:ahLst/>
            <a:cxnLst/>
            <a:rect r="r" b="b" t="t" l="l"/>
            <a:pathLst>
              <a:path h="9701691" w="9918085">
                <a:moveTo>
                  <a:pt x="0" y="0"/>
                </a:moveTo>
                <a:lnTo>
                  <a:pt x="9918085" y="0"/>
                </a:lnTo>
                <a:lnTo>
                  <a:pt x="9918085" y="9701691"/>
                </a:lnTo>
                <a:lnTo>
                  <a:pt x="0" y="97016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7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286002" y="457196"/>
            <a:ext cx="12676008" cy="620488"/>
            <a:chOff x="0" y="0"/>
            <a:chExt cx="12018734" cy="5883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018728" cy="588312"/>
            </a:xfrm>
            <a:custGeom>
              <a:avLst/>
              <a:gdLst/>
              <a:ahLst/>
              <a:cxnLst/>
              <a:rect r="r" b="b" t="t" l="l"/>
              <a:pathLst>
                <a:path h="588312" w="12018728">
                  <a:moveTo>
                    <a:pt x="0" y="0"/>
                  </a:moveTo>
                  <a:lnTo>
                    <a:pt x="12018728" y="0"/>
                  </a:lnTo>
                  <a:lnTo>
                    <a:pt x="12018728" y="588312"/>
                  </a:lnTo>
                  <a:lnTo>
                    <a:pt x="0" y="58831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48063" r="0" b="-34806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57150"/>
              <a:ext cx="12018734" cy="531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957"/>
                </a:lnSpc>
              </a:pPr>
              <a:r>
                <a:rPr lang="en-US" b="true" sz="4590" spc="36">
                  <a:solidFill>
                    <a:srgbClr val="000000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Impact, Novelty &amp; Future Scope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272546" y="2131872"/>
            <a:ext cx="12979581" cy="6843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8"/>
              </a:lnSpc>
            </a:pPr>
            <a:r>
              <a:rPr lang="en-US" sz="217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Impact</a:t>
            </a:r>
          </a:p>
          <a:p>
            <a:pPr algn="l" marL="280531" indent="-140265" lvl="1">
              <a:lnSpc>
                <a:spcPts val="3138"/>
              </a:lnSpc>
              <a:buFont typeface="Arial"/>
              <a:buChar char="•"/>
            </a:pPr>
            <a:r>
              <a:rPr lang="en-US" sz="217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Improves </a:t>
            </a:r>
            <a:r>
              <a:rPr lang="en-US" b="true" sz="217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focus and productivity</a:t>
            </a:r>
          </a:p>
          <a:p>
            <a:pPr algn="l" marL="280531" indent="-140265" lvl="1">
              <a:lnSpc>
                <a:spcPts val="3138"/>
              </a:lnSpc>
              <a:buFont typeface="Arial"/>
              <a:buChar char="•"/>
            </a:pPr>
            <a:r>
              <a:rPr lang="en-US" sz="217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Helps users </a:t>
            </a:r>
            <a:r>
              <a:rPr lang="en-US" b="true" sz="217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understand emotional patterns</a:t>
            </a:r>
          </a:p>
          <a:p>
            <a:pPr algn="l" marL="280531" indent="-140265" lvl="1">
              <a:lnSpc>
                <a:spcPts val="3138"/>
              </a:lnSpc>
              <a:buFont typeface="Arial"/>
              <a:buChar char="•"/>
            </a:pPr>
            <a:r>
              <a:rPr lang="en-US" sz="217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Supports better </a:t>
            </a:r>
            <a:r>
              <a:rPr lang="en-US" b="true" sz="217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mental well-being and self-awareness</a:t>
            </a:r>
          </a:p>
          <a:p>
            <a:pPr algn="l" marL="280531" indent="-140265" lvl="1">
              <a:lnSpc>
                <a:spcPts val="3138"/>
              </a:lnSpc>
            </a:pPr>
          </a:p>
          <a:p>
            <a:pPr algn="l" marL="280531" indent="-140265" lvl="1">
              <a:lnSpc>
                <a:spcPts val="3138"/>
              </a:lnSpc>
            </a:pPr>
            <a:r>
              <a:rPr lang="en-US" b="true" sz="217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What Makes NeuroLink Unique</a:t>
            </a:r>
          </a:p>
          <a:p>
            <a:pPr algn="l" marL="280531" indent="-140265" lvl="1">
              <a:lnSpc>
                <a:spcPts val="3138"/>
              </a:lnSpc>
              <a:buFont typeface="Arial"/>
              <a:buChar char="•"/>
            </a:pPr>
            <a:r>
              <a:rPr lang="en-US" sz="217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</a:t>
            </a:r>
            <a:r>
              <a:rPr lang="en-US" b="true" sz="217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emotion-aware productivity suggestions</a:t>
            </a:r>
          </a:p>
          <a:p>
            <a:pPr algn="l" marL="280531" indent="-140265" lvl="1">
              <a:lnSpc>
                <a:spcPts val="3138"/>
              </a:lnSpc>
              <a:buFont typeface="Arial"/>
              <a:buChar char="•"/>
            </a:pPr>
            <a:r>
              <a:rPr lang="en-US" b="true" sz="217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Personalized AI recommendations</a:t>
            </a:r>
            <a:r>
              <a:rPr lang="en-US" sz="217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based on mood</a:t>
            </a:r>
          </a:p>
          <a:p>
            <a:pPr algn="l" marL="280531" indent="-140265" lvl="1">
              <a:lnSpc>
                <a:spcPts val="3138"/>
              </a:lnSpc>
              <a:buFont typeface="Arial"/>
              <a:buChar char="•"/>
            </a:pPr>
            <a:r>
              <a:rPr lang="en-US" sz="217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Integrated system: </a:t>
            </a:r>
            <a:r>
              <a:rPr lang="en-US" b="true" sz="217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analytics + chatbot + mood tracking + AI support</a:t>
            </a:r>
          </a:p>
          <a:p>
            <a:pPr algn="l" marL="280531" indent="-140265" lvl="1">
              <a:lnSpc>
                <a:spcPts val="3138"/>
              </a:lnSpc>
            </a:pPr>
          </a:p>
          <a:p>
            <a:pPr algn="l" marL="280531" indent="-140265" lvl="1">
              <a:lnSpc>
                <a:spcPts val="3138"/>
              </a:lnSpc>
            </a:pPr>
            <a:r>
              <a:rPr lang="en-US" b="true" sz="217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Future Scope</a:t>
            </a:r>
          </a:p>
          <a:p>
            <a:pPr algn="l" marL="280531" indent="-140265" lvl="1">
              <a:lnSpc>
                <a:spcPts val="3138"/>
              </a:lnSpc>
              <a:buFont typeface="Arial"/>
              <a:buChar char="•"/>
            </a:pPr>
            <a:r>
              <a:rPr lang="en-US" b="true" sz="217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Voice-based mood detection</a:t>
            </a:r>
          </a:p>
          <a:p>
            <a:pPr algn="l" marL="280531" indent="-140265" lvl="1">
              <a:lnSpc>
                <a:spcPts val="3138"/>
              </a:lnSpc>
              <a:buFont typeface="Arial"/>
              <a:buChar char="•"/>
            </a:pPr>
            <a:r>
              <a:rPr lang="en-US" b="true" sz="217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Wearable device integration</a:t>
            </a:r>
            <a:r>
              <a:rPr lang="en-US" sz="217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(smartwatch, health sensors)</a:t>
            </a:r>
          </a:p>
          <a:p>
            <a:pPr algn="l" marL="280531" indent="-140265" lvl="1">
              <a:lnSpc>
                <a:spcPts val="3138"/>
              </a:lnSpc>
              <a:buFont typeface="Arial"/>
              <a:buChar char="•"/>
            </a:pPr>
            <a:r>
              <a:rPr lang="en-US" b="true" sz="217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AI-generated daily mental fitness plans</a:t>
            </a:r>
          </a:p>
          <a:p>
            <a:pPr algn="l" marL="280531" indent="-140265" lvl="1">
              <a:lnSpc>
                <a:spcPts val="3138"/>
              </a:lnSpc>
              <a:buFont typeface="Arial"/>
              <a:buChar char="•"/>
            </a:pPr>
            <a:r>
              <a:rPr lang="en-US" sz="217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Optional </a:t>
            </a:r>
            <a:r>
              <a:rPr lang="en-US" b="true" sz="217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psychologist support integration</a:t>
            </a:r>
            <a:r>
              <a:rPr lang="en-US" sz="217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high-stress cases</a:t>
            </a:r>
          </a:p>
          <a:p>
            <a:pPr algn="l" marL="357038" indent="-178519" lvl="1">
              <a:lnSpc>
                <a:spcPts val="3995"/>
              </a:lnSpc>
            </a:pPr>
            <a:r>
              <a:rPr lang="en-US" b="true" sz="2774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                                    Not just a mood tracker — an AI decision assistant for mental fitness.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9918085" y="1472091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60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DAHCWXYQqSE</dc:identifier>
  <dcterms:modified xsi:type="dcterms:W3CDTF">2011-08-01T06:04:30Z</dcterms:modified>
  <cp:revision>1</cp:revision>
  <dc:title>Impact Improves focus and productivity Helps users understand emotional patterns Supports better mental well-being and self-awareness What Makes NeuroLink Unique Real-time emotion-aware productivity suggestions Personalized AI recommendations based on</dc:title>
</cp:coreProperties>
</file>